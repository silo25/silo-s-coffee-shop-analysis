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8288000" cy="10287000"/>
  <p:notesSz cx="6858000" cy="9144000"/>
  <p:embeddedFontLst>
    <p:embeddedFont>
      <p:font typeface="Montserrat Heavy" panose="020B0604020202020204" charset="0"/>
      <p:regular r:id="rId11"/>
    </p:embeddedFont>
    <p:embeddedFont>
      <p:font typeface="Roboto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320" y="2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17812" y="-1335299"/>
            <a:ext cx="5033991" cy="5052939"/>
          </a:xfrm>
          <a:custGeom>
            <a:avLst/>
            <a:gdLst/>
            <a:ahLst/>
            <a:cxnLst/>
            <a:rect l="l" t="t" r="r" b="b"/>
            <a:pathLst>
              <a:path w="5033991" h="5052939">
                <a:moveTo>
                  <a:pt x="0" y="0"/>
                </a:moveTo>
                <a:lnTo>
                  <a:pt x="5033991" y="0"/>
                </a:lnTo>
                <a:lnTo>
                  <a:pt x="5033991" y="5052940"/>
                </a:lnTo>
                <a:lnTo>
                  <a:pt x="0" y="505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 rot="3280390">
            <a:off x="13713579" y="5985841"/>
            <a:ext cx="5271575" cy="5291418"/>
          </a:xfrm>
          <a:custGeom>
            <a:avLst/>
            <a:gdLst/>
            <a:ahLst/>
            <a:cxnLst/>
            <a:rect l="l" t="t" r="r" b="b"/>
            <a:pathLst>
              <a:path w="5271575" h="5291418">
                <a:moveTo>
                  <a:pt x="0" y="0"/>
                </a:moveTo>
                <a:lnTo>
                  <a:pt x="5271575" y="0"/>
                </a:lnTo>
                <a:lnTo>
                  <a:pt x="5271575" y="5291417"/>
                </a:lnTo>
                <a:lnTo>
                  <a:pt x="0" y="5291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7" name="Group 7"/>
          <p:cNvGrpSpPr/>
          <p:nvPr/>
        </p:nvGrpSpPr>
        <p:grpSpPr>
          <a:xfrm>
            <a:off x="10496136" y="2483042"/>
            <a:ext cx="6232216" cy="6232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16925" b="-16407"/>
              </a:stretch>
            </a:blipFill>
            <a:ln w="57150" cap="sq">
              <a:solidFill>
                <a:srgbClr val="210B05"/>
              </a:soli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9" name="Freeform 9"/>
          <p:cNvSpPr/>
          <p:nvPr/>
        </p:nvSpPr>
        <p:spPr>
          <a:xfrm>
            <a:off x="14873259" y="375573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1227719" y="2445526"/>
            <a:ext cx="8894263" cy="2590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45"/>
              </a:lnSpc>
            </a:pPr>
            <a:r>
              <a:rPr lang="en-US" sz="8899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SILO’s Coffee shop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754121"/>
            <a:ext cx="837508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A sip to savor in every cup.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1278608" y="6966024"/>
            <a:ext cx="5524763" cy="552476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8444992"/>
            <a:ext cx="591862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PRESENTED BY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809990"/>
            <a:ext cx="5918626" cy="42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Silondile Mkhize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73259" y="639445"/>
            <a:ext cx="3033741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SILO’s Coffee Shop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50325" y="-1982049"/>
            <a:ext cx="5357728" cy="5377895"/>
          </a:xfrm>
          <a:custGeom>
            <a:avLst/>
            <a:gdLst/>
            <a:ahLst/>
            <a:cxnLst/>
            <a:rect l="l" t="t" r="r" b="b"/>
            <a:pathLst>
              <a:path w="5357728" h="5377895">
                <a:moveTo>
                  <a:pt x="0" y="0"/>
                </a:moveTo>
                <a:lnTo>
                  <a:pt x="5357728" y="0"/>
                </a:lnTo>
                <a:lnTo>
                  <a:pt x="5357728" y="5377895"/>
                </a:lnTo>
                <a:lnTo>
                  <a:pt x="0" y="5377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 rot="3280390">
            <a:off x="13713579" y="5985841"/>
            <a:ext cx="5271575" cy="5291418"/>
          </a:xfrm>
          <a:custGeom>
            <a:avLst/>
            <a:gdLst/>
            <a:ahLst/>
            <a:cxnLst/>
            <a:rect l="l" t="t" r="r" b="b"/>
            <a:pathLst>
              <a:path w="5271575" h="5291418">
                <a:moveTo>
                  <a:pt x="0" y="0"/>
                </a:moveTo>
                <a:lnTo>
                  <a:pt x="5271575" y="0"/>
                </a:lnTo>
                <a:lnTo>
                  <a:pt x="5271575" y="5291417"/>
                </a:lnTo>
                <a:lnTo>
                  <a:pt x="0" y="5291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7" name="Group 7"/>
          <p:cNvGrpSpPr/>
          <p:nvPr/>
        </p:nvGrpSpPr>
        <p:grpSpPr>
          <a:xfrm>
            <a:off x="10496136" y="2483042"/>
            <a:ext cx="6232216" cy="6232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49519" b="-573"/>
              </a:stretch>
            </a:blipFill>
            <a:ln w="57150" cap="sq">
              <a:solidFill>
                <a:srgbClr val="210B05"/>
              </a:soli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9" name="Freeform 9"/>
          <p:cNvSpPr/>
          <p:nvPr/>
        </p:nvSpPr>
        <p:spPr>
          <a:xfrm>
            <a:off x="14752806" y="473388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974688" y="2220036"/>
            <a:ext cx="8375089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45"/>
              </a:lnSpc>
            </a:pPr>
            <a:r>
              <a:rPr lang="en-US" sz="8800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Content Page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197939" y="7111229"/>
            <a:ext cx="5524763" cy="55247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003063" y="639445"/>
            <a:ext cx="2980137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32097" y="3667663"/>
            <a:ext cx="7202303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849"/>
              </a:lnSpc>
              <a:buFont typeface="Arial" panose="020B0604020202020204" pitchFamily="34" charset="0"/>
              <a:buChar char="•"/>
            </a:pPr>
            <a:r>
              <a:rPr lang="en-US" sz="2499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Introduction</a:t>
            </a:r>
          </a:p>
          <a:p>
            <a:pPr marL="342900" indent="-342900" algn="l">
              <a:lnSpc>
                <a:spcPts val="2849"/>
              </a:lnSpc>
              <a:buFont typeface="Arial" panose="020B0604020202020204" pitchFamily="34" charset="0"/>
              <a:buChar char="•"/>
            </a:pPr>
            <a:endParaRPr lang="en-US" sz="2499" b="1" dirty="0">
              <a:solidFill>
                <a:srgbClr val="210B05"/>
              </a:solidFill>
              <a:latin typeface="Montserrat Heavy"/>
              <a:ea typeface="Montserrat Heavy"/>
              <a:cs typeface="Montserrat Heavy"/>
              <a:sym typeface="Montserrat Heavy"/>
            </a:endParaRPr>
          </a:p>
          <a:p>
            <a:pPr marL="342900" indent="-342900" algn="l">
              <a:lnSpc>
                <a:spcPts val="2849"/>
              </a:lnSpc>
              <a:buFont typeface="Arial" panose="020B0604020202020204" pitchFamily="34" charset="0"/>
              <a:buChar char="•"/>
            </a:pPr>
            <a:r>
              <a:rPr lang="en-US" sz="2499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Analysis Breakdown</a:t>
            </a:r>
          </a:p>
          <a:p>
            <a:pPr marL="342900" indent="-342900" algn="l">
              <a:lnSpc>
                <a:spcPts val="2849"/>
              </a:lnSpc>
              <a:buFont typeface="Arial" panose="020B0604020202020204" pitchFamily="34" charset="0"/>
              <a:buChar char="•"/>
            </a:pPr>
            <a:endParaRPr lang="en-US" sz="2499" b="1" dirty="0">
              <a:solidFill>
                <a:srgbClr val="210B05"/>
              </a:solidFill>
              <a:latin typeface="Montserrat Heavy"/>
              <a:ea typeface="Montserrat Heavy"/>
              <a:cs typeface="Montserrat Heavy"/>
              <a:sym typeface="Montserrat Heavy"/>
            </a:endParaRPr>
          </a:p>
          <a:p>
            <a:pPr marL="342900" indent="-342900" algn="l">
              <a:lnSpc>
                <a:spcPts val="2849"/>
              </a:lnSpc>
              <a:buFont typeface="Arial" panose="020B0604020202020204" pitchFamily="34" charset="0"/>
              <a:buChar char="•"/>
            </a:pPr>
            <a:r>
              <a:rPr lang="en-US" sz="2499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Conclusion &amp; Recommendations</a:t>
            </a:r>
          </a:p>
          <a:p>
            <a:pPr marL="342900" indent="-342900" algn="l">
              <a:lnSpc>
                <a:spcPts val="2849"/>
              </a:lnSpc>
              <a:buFont typeface="Arial" panose="020B0604020202020204" pitchFamily="34" charset="0"/>
              <a:buChar char="•"/>
            </a:pPr>
            <a:endParaRPr lang="en-US" sz="2499" b="1" dirty="0">
              <a:solidFill>
                <a:srgbClr val="210B05"/>
              </a:solidFill>
              <a:latin typeface="Montserrat Heavy"/>
              <a:ea typeface="Montserrat Heavy"/>
              <a:cs typeface="Montserrat Heavy"/>
              <a:sym typeface="Montserrat Heavy"/>
            </a:endParaRPr>
          </a:p>
          <a:p>
            <a:pPr marL="342900" indent="-342900" algn="l">
              <a:lnSpc>
                <a:spcPts val="2849"/>
              </a:lnSpc>
              <a:buFont typeface="Arial" panose="020B0604020202020204" pitchFamily="34" charset="0"/>
              <a:buChar char="•"/>
            </a:pPr>
            <a:r>
              <a:rPr lang="en-US" sz="2499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Q &amp; A</a:t>
            </a:r>
          </a:p>
          <a:p>
            <a:pPr algn="l">
              <a:lnSpc>
                <a:spcPts val="2849"/>
              </a:lnSpc>
            </a:pPr>
            <a:endParaRPr lang="en-US" sz="2499" b="1" dirty="0">
              <a:solidFill>
                <a:srgbClr val="210B05"/>
              </a:solidFill>
              <a:latin typeface="Montserrat Heavy"/>
              <a:ea typeface="Montserrat Heavy"/>
              <a:cs typeface="Montserrat Heavy"/>
              <a:sym typeface="Montserrat Heav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50325" y="-1982049"/>
            <a:ext cx="5357728" cy="5377895"/>
          </a:xfrm>
          <a:custGeom>
            <a:avLst/>
            <a:gdLst/>
            <a:ahLst/>
            <a:cxnLst/>
            <a:rect l="l" t="t" r="r" b="b"/>
            <a:pathLst>
              <a:path w="5357728" h="5377895">
                <a:moveTo>
                  <a:pt x="0" y="0"/>
                </a:moveTo>
                <a:lnTo>
                  <a:pt x="5357728" y="0"/>
                </a:lnTo>
                <a:lnTo>
                  <a:pt x="5357728" y="5377895"/>
                </a:lnTo>
                <a:lnTo>
                  <a:pt x="0" y="5377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 rot="3280390">
            <a:off x="13713579" y="5985841"/>
            <a:ext cx="5271575" cy="5291418"/>
          </a:xfrm>
          <a:custGeom>
            <a:avLst/>
            <a:gdLst/>
            <a:ahLst/>
            <a:cxnLst/>
            <a:rect l="l" t="t" r="r" b="b"/>
            <a:pathLst>
              <a:path w="5271575" h="5291418">
                <a:moveTo>
                  <a:pt x="0" y="0"/>
                </a:moveTo>
                <a:lnTo>
                  <a:pt x="5271575" y="0"/>
                </a:lnTo>
                <a:lnTo>
                  <a:pt x="5271575" y="5291417"/>
                </a:lnTo>
                <a:lnTo>
                  <a:pt x="0" y="5291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7" name="Group 7"/>
          <p:cNvGrpSpPr/>
          <p:nvPr/>
        </p:nvGrpSpPr>
        <p:grpSpPr>
          <a:xfrm>
            <a:off x="10496136" y="2483042"/>
            <a:ext cx="6232216" cy="6232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  <a:ln w="57150" cap="sq">
              <a:solidFill>
                <a:srgbClr val="210B05"/>
              </a:soli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9" name="Freeform 9"/>
          <p:cNvSpPr/>
          <p:nvPr/>
        </p:nvSpPr>
        <p:spPr>
          <a:xfrm>
            <a:off x="14857033" y="365269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1028700" y="3546903"/>
            <a:ext cx="8953500" cy="10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92"/>
              </a:lnSpc>
            </a:pPr>
            <a:r>
              <a:rPr lang="en-US" sz="6600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Problem statement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197939" y="7111229"/>
            <a:ext cx="5524763" cy="55247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4851779"/>
            <a:ext cx="8115300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Silo’s Coffee Shop is a growing chain of coffee shops. Silo’s Coffee Shop is on a mission to grow the company’s revenue and improve product performance. We are looking to use the data and market insights to develop new  strategies.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60262" y="557132"/>
            <a:ext cx="2827737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14">
            <a:extLst>
              <a:ext uri="{FF2B5EF4-FFF2-40B4-BE49-F238E27FC236}">
                <a16:creationId xmlns:a16="http://schemas.microsoft.com/office/drawing/2014/main" id="{8D366E09-0CFB-728B-B049-3AF5408C8F62}"/>
              </a:ext>
            </a:extLst>
          </p:cNvPr>
          <p:cNvSpPr txBox="1"/>
          <p:nvPr/>
        </p:nvSpPr>
        <p:spPr>
          <a:xfrm>
            <a:off x="919144" y="6761179"/>
            <a:ext cx="8115300" cy="170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Focus areas: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Product performance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Store performance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Marketing strategy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4CEC8E-2FB0-D93F-B7B6-EA298DC72563}"/>
              </a:ext>
            </a:extLst>
          </p:cNvPr>
          <p:cNvSpPr txBox="1"/>
          <p:nvPr/>
        </p:nvSpPr>
        <p:spPr>
          <a:xfrm>
            <a:off x="11864468" y="9186132"/>
            <a:ext cx="136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solidFill>
                  <a:srgbClr val="210B05"/>
                </a:solidFill>
                <a:latin typeface="Montserrat Heavy"/>
              </a:rPr>
              <a:t>Pg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8B8B2A9-A869-9C85-739D-F546E8BB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3" y="1859533"/>
            <a:ext cx="10360223" cy="515672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65880" y="-1951960"/>
            <a:ext cx="4422649" cy="4856379"/>
          </a:xfrm>
          <a:custGeom>
            <a:avLst/>
            <a:gdLst/>
            <a:ahLst/>
            <a:cxnLst/>
            <a:rect l="l" t="t" r="r" b="b"/>
            <a:pathLst>
              <a:path w="5357728" h="5377895">
                <a:moveTo>
                  <a:pt x="0" y="0"/>
                </a:moveTo>
                <a:lnTo>
                  <a:pt x="5357728" y="0"/>
                </a:lnTo>
                <a:lnTo>
                  <a:pt x="5357728" y="5377895"/>
                </a:lnTo>
                <a:lnTo>
                  <a:pt x="0" y="5377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>
            <a:off x="14858085" y="365269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1" name="Group 11"/>
          <p:cNvGrpSpPr/>
          <p:nvPr/>
        </p:nvGrpSpPr>
        <p:grpSpPr>
          <a:xfrm>
            <a:off x="-1197939" y="7111229"/>
            <a:ext cx="5524763" cy="55247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179773" y="613957"/>
            <a:ext cx="2751537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D157614-6AA3-08E7-F952-8CE235863D3E}"/>
              </a:ext>
            </a:extLst>
          </p:cNvPr>
          <p:cNvSpPr txBox="1"/>
          <p:nvPr/>
        </p:nvSpPr>
        <p:spPr>
          <a:xfrm>
            <a:off x="11864468" y="9186132"/>
            <a:ext cx="1318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solidFill>
                  <a:srgbClr val="210B05"/>
                </a:solidFill>
                <a:latin typeface="Montserrat Heavy"/>
              </a:rPr>
              <a:t>Pg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5A3EEC-B620-EA38-89B9-F584D4817493}"/>
              </a:ext>
            </a:extLst>
          </p:cNvPr>
          <p:cNvSpPr txBox="1"/>
          <p:nvPr/>
        </p:nvSpPr>
        <p:spPr>
          <a:xfrm>
            <a:off x="465540" y="7370202"/>
            <a:ext cx="76116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dirty="0"/>
              <a:t>Total revenue across the 3 coffee shops in the chain of stores.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A62E24-6527-0B06-8E14-77833057754A}"/>
              </a:ext>
            </a:extLst>
          </p:cNvPr>
          <p:cNvSpPr txBox="1"/>
          <p:nvPr/>
        </p:nvSpPr>
        <p:spPr>
          <a:xfrm>
            <a:off x="10725160" y="7122537"/>
            <a:ext cx="88294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dirty="0"/>
              <a:t>The graph shows the % split of revenue across the 3 shops. The revenue is almost evenly split between the 3 shops. </a:t>
            </a:r>
            <a:endParaRPr lang="en-ZA" sz="3200" dirty="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D1B80D-B8C7-7DD9-5DE8-506B9BE41E05}"/>
              </a:ext>
            </a:extLst>
          </p:cNvPr>
          <p:cNvSpPr txBox="1"/>
          <p:nvPr/>
        </p:nvSpPr>
        <p:spPr>
          <a:xfrm>
            <a:off x="4991180" y="435625"/>
            <a:ext cx="8991600" cy="1233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891"/>
              </a:lnSpc>
            </a:pPr>
            <a:r>
              <a:rPr lang="en-ZA" sz="7800" b="1" dirty="0">
                <a:solidFill>
                  <a:srgbClr val="210B05"/>
                </a:solidFill>
                <a:latin typeface="Montserrat Heavy"/>
              </a:rPr>
              <a:t>Revenue 2023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083B45-E79E-99A1-384F-3249F4AADD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6196" y="1859533"/>
            <a:ext cx="8439242" cy="51366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50325" y="-1982049"/>
            <a:ext cx="5357728" cy="5377895"/>
          </a:xfrm>
          <a:custGeom>
            <a:avLst/>
            <a:gdLst/>
            <a:ahLst/>
            <a:cxnLst/>
            <a:rect l="l" t="t" r="r" b="b"/>
            <a:pathLst>
              <a:path w="5357728" h="5377895">
                <a:moveTo>
                  <a:pt x="0" y="0"/>
                </a:moveTo>
                <a:lnTo>
                  <a:pt x="5357728" y="0"/>
                </a:lnTo>
                <a:lnTo>
                  <a:pt x="5357728" y="5377895"/>
                </a:lnTo>
                <a:lnTo>
                  <a:pt x="0" y="5377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>
            <a:off x="15003063" y="375573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5" y="0"/>
                </a:lnTo>
                <a:lnTo>
                  <a:pt x="500515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4887953" y="236833"/>
            <a:ext cx="8375089" cy="100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4800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Product offering analysis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197939" y="7111229"/>
            <a:ext cx="5524763" cy="55247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238283" y="613957"/>
            <a:ext cx="2980137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336532" y="1754011"/>
            <a:ext cx="1430092" cy="143009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A62D5DF-DEA2-0E3E-E9C7-63C6C27ECD80}"/>
              </a:ext>
            </a:extLst>
          </p:cNvPr>
          <p:cNvSpPr txBox="1"/>
          <p:nvPr/>
        </p:nvSpPr>
        <p:spPr>
          <a:xfrm>
            <a:off x="11844544" y="9208121"/>
            <a:ext cx="1318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solidFill>
                  <a:srgbClr val="210B05"/>
                </a:solidFill>
                <a:latin typeface="Montserrat Heavy"/>
              </a:rPr>
              <a:t>Pg 3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BDCA6E-ED2B-C438-ED25-4A9434A0B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" y="1267721"/>
            <a:ext cx="10995640" cy="5320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1DF0D-20F8-1CCA-24B1-7514BB671CE7}"/>
              </a:ext>
            </a:extLst>
          </p:cNvPr>
          <p:cNvSpPr txBox="1"/>
          <p:nvPr/>
        </p:nvSpPr>
        <p:spPr>
          <a:xfrm>
            <a:off x="461288" y="6790101"/>
            <a:ext cx="104353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Coffee and Tea are the most sold product that brings in the highest revenue.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2800" dirty="0"/>
              <a:t>We sell more units of flavours than Coffee beans, but Coffee beans brings in more revenue than flavours. Coffee beans is the 5</a:t>
            </a:r>
            <a:r>
              <a:rPr lang="en-ZA" sz="2800" baseline="30000" dirty="0"/>
              <a:t>th</a:t>
            </a:r>
            <a:r>
              <a:rPr lang="en-ZA" sz="2800" dirty="0"/>
              <a:t> highest revenue producing products. Coffee beans contribute 5.74% of total revenue.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2FDA34-A594-CE33-AE16-C9EE130FD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0931" y="1257560"/>
            <a:ext cx="9717869" cy="53294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F36BD0-532E-08D2-3D46-7E6E5683068A}"/>
              </a:ext>
            </a:extLst>
          </p:cNvPr>
          <p:cNvSpPr txBox="1"/>
          <p:nvPr/>
        </p:nvSpPr>
        <p:spPr>
          <a:xfrm>
            <a:off x="11216613" y="6821847"/>
            <a:ext cx="10435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800" dirty="0"/>
              <a:t>The Top 3 products Coffee, tea and Bakery make up the below total store sales: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2800" dirty="0"/>
              <a:t>79% for Astoria,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2800" dirty="0"/>
              <a:t>78% for Hell’s kitchen,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2800" dirty="0"/>
              <a:t>78% for Lower Manhattan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50325" y="-1982049"/>
            <a:ext cx="5357728" cy="5377895"/>
          </a:xfrm>
          <a:custGeom>
            <a:avLst/>
            <a:gdLst/>
            <a:ahLst/>
            <a:cxnLst/>
            <a:rect l="l" t="t" r="r" b="b"/>
            <a:pathLst>
              <a:path w="5357728" h="5377895">
                <a:moveTo>
                  <a:pt x="0" y="0"/>
                </a:moveTo>
                <a:lnTo>
                  <a:pt x="5357728" y="0"/>
                </a:lnTo>
                <a:lnTo>
                  <a:pt x="5357728" y="5377895"/>
                </a:lnTo>
                <a:lnTo>
                  <a:pt x="0" y="5377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>
            <a:off x="14889484" y="365269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3808878" y="350443"/>
            <a:ext cx="11080606" cy="86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10"/>
              </a:lnSpc>
            </a:pPr>
            <a:r>
              <a:rPr lang="en-US" sz="4800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Time data analysis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197939" y="7111229"/>
            <a:ext cx="5524763" cy="55247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04400" y="7122911"/>
            <a:ext cx="8115300" cy="214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56% of the sales are made in the morning. Only 9% of the revenue is made in the last 3 hours of the day between 18:00pm – 20:00pm. Compared to 24% revenue made in the first 3hrs of the day. 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03063" y="639445"/>
            <a:ext cx="2903937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C006F7F-E955-1206-38A5-C3D7CF114D1B}"/>
              </a:ext>
            </a:extLst>
          </p:cNvPr>
          <p:cNvSpPr txBox="1"/>
          <p:nvPr/>
        </p:nvSpPr>
        <p:spPr>
          <a:xfrm>
            <a:off x="11800776" y="9189179"/>
            <a:ext cx="164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solidFill>
                  <a:srgbClr val="210B05"/>
                </a:solidFill>
                <a:latin typeface="Montserrat Heavy"/>
              </a:rPr>
              <a:t>Pg 4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67CF1D2-9772-3E24-9186-FA2A3E748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6686" y="1214269"/>
            <a:ext cx="14677019" cy="53790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6EFC2B5-187F-1745-E279-2AB1C3FE1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54" y="1214268"/>
            <a:ext cx="11534114" cy="557967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2AB748-8680-ACE6-4B2E-181DCDEFF7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266" y="2897900"/>
            <a:ext cx="3633900" cy="505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50325" y="-1982049"/>
            <a:ext cx="5357728" cy="5377895"/>
          </a:xfrm>
          <a:custGeom>
            <a:avLst/>
            <a:gdLst/>
            <a:ahLst/>
            <a:cxnLst/>
            <a:rect l="l" t="t" r="r" b="b"/>
            <a:pathLst>
              <a:path w="5357728" h="5377895">
                <a:moveTo>
                  <a:pt x="0" y="0"/>
                </a:moveTo>
                <a:lnTo>
                  <a:pt x="5357728" y="0"/>
                </a:lnTo>
                <a:lnTo>
                  <a:pt x="5357728" y="5377895"/>
                </a:lnTo>
                <a:lnTo>
                  <a:pt x="0" y="5377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9" name="Freeform 9"/>
          <p:cNvSpPr/>
          <p:nvPr/>
        </p:nvSpPr>
        <p:spPr>
          <a:xfrm>
            <a:off x="14889484" y="375573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3055280" y="377783"/>
            <a:ext cx="11575119" cy="851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10"/>
              </a:lnSpc>
            </a:pPr>
            <a:r>
              <a:rPr lang="en-US" sz="4400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Revenue per Month &amp; MoM% Change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197939" y="7111229"/>
            <a:ext cx="5524763" cy="55247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556464" y="7179777"/>
            <a:ext cx="9731036" cy="2577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indent="-237491" algn="just">
              <a:lnSpc>
                <a:spcPts val="3410"/>
              </a:lnSpc>
              <a:buFont typeface="Arial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The last 3 months 63% of the revenue, the first 3 months Jan-March only produced 37% of the revenue. </a:t>
            </a:r>
          </a:p>
          <a:p>
            <a:pPr marL="474981" lvl="1" indent="-237491" algn="just">
              <a:lnSpc>
                <a:spcPts val="3410"/>
              </a:lnSpc>
              <a:buFont typeface="Arial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There was +30% revenue increase between Feb and Mar. There is an over all up trend in the revenue generated. </a:t>
            </a:r>
          </a:p>
          <a:p>
            <a:pPr marL="474981" lvl="1" indent="-237491" algn="just">
              <a:lnSpc>
                <a:spcPts val="3410"/>
              </a:lnSpc>
              <a:buFont typeface="Arial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74981" lvl="1" indent="-237491" algn="just">
              <a:lnSpc>
                <a:spcPts val="3410"/>
              </a:lnSpc>
              <a:buFont typeface="Arial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144045" y="613957"/>
            <a:ext cx="2827737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59B52C1-E221-3D16-EB03-A1A8D5CCFF5F}"/>
              </a:ext>
            </a:extLst>
          </p:cNvPr>
          <p:cNvSpPr txBox="1"/>
          <p:nvPr/>
        </p:nvSpPr>
        <p:spPr>
          <a:xfrm>
            <a:off x="11858082" y="9104222"/>
            <a:ext cx="1462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solidFill>
                  <a:srgbClr val="210B05"/>
                </a:solidFill>
                <a:latin typeface="Montserrat Heavy"/>
              </a:rPr>
              <a:t>Pg 5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3935E52-ABE0-2C64-3C24-2BE1C9806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9747" y="1449315"/>
            <a:ext cx="10366724" cy="56619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D3D130F-8197-1A3C-1211-36CFD74F62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439673"/>
            <a:ext cx="10651804" cy="5671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4082" y="-873614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50325" y="-1982049"/>
            <a:ext cx="5357728" cy="5377895"/>
          </a:xfrm>
          <a:custGeom>
            <a:avLst/>
            <a:gdLst/>
            <a:ahLst/>
            <a:cxnLst/>
            <a:rect l="l" t="t" r="r" b="b"/>
            <a:pathLst>
              <a:path w="5357728" h="5377895">
                <a:moveTo>
                  <a:pt x="0" y="0"/>
                </a:moveTo>
                <a:lnTo>
                  <a:pt x="5357728" y="0"/>
                </a:lnTo>
                <a:lnTo>
                  <a:pt x="5357728" y="5377895"/>
                </a:lnTo>
                <a:lnTo>
                  <a:pt x="0" y="5377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 rot="3280390">
            <a:off x="13713579" y="5985841"/>
            <a:ext cx="5271575" cy="5291418"/>
          </a:xfrm>
          <a:custGeom>
            <a:avLst/>
            <a:gdLst/>
            <a:ahLst/>
            <a:cxnLst/>
            <a:rect l="l" t="t" r="r" b="b"/>
            <a:pathLst>
              <a:path w="5271575" h="5291418">
                <a:moveTo>
                  <a:pt x="0" y="0"/>
                </a:moveTo>
                <a:lnTo>
                  <a:pt x="5271575" y="0"/>
                </a:lnTo>
                <a:lnTo>
                  <a:pt x="5271575" y="5291417"/>
                </a:lnTo>
                <a:lnTo>
                  <a:pt x="0" y="5291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7" name="Group 7"/>
          <p:cNvGrpSpPr/>
          <p:nvPr/>
        </p:nvGrpSpPr>
        <p:grpSpPr>
          <a:xfrm>
            <a:off x="11656136" y="2325471"/>
            <a:ext cx="6232216" cy="6232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3126" r="-23126"/>
              </a:stretch>
            </a:blipFill>
            <a:ln w="57150" cap="sq">
              <a:solidFill>
                <a:srgbClr val="210B05"/>
              </a:soli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9" name="Freeform 9"/>
          <p:cNvSpPr/>
          <p:nvPr/>
        </p:nvSpPr>
        <p:spPr>
          <a:xfrm>
            <a:off x="14873259" y="365269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3207345" y="248961"/>
            <a:ext cx="11222538" cy="1918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10"/>
              </a:lnSpc>
            </a:pPr>
            <a:r>
              <a:rPr lang="en-US" sz="6500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Conclusion and Recommendation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1197939" y="7111229"/>
            <a:ext cx="5524763" cy="55247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003063" y="639445"/>
            <a:ext cx="2256237" cy="79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0588" y="2316408"/>
            <a:ext cx="10929310" cy="8050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200" b="1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Conclusions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There is an uptrend in revenue across the various locations since Jan – June 2023. Coffee and Tea generate the most sales for the stores across the locations. 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3410"/>
              </a:lnSpc>
            </a:pPr>
            <a:r>
              <a:rPr lang="en-US" sz="2200" b="1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Recommendations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Advertising can be done to bring Lower Manhattan’s sales up to be inline with the other two store locations.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The Astoria and Lower Manhattan store location could possibly  move the closing time to 19:00pm, because less that 0.5% of sales happen during that last hour.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More advertising/ promotions can be introduced for the coffee beans. This product has the potential to bring in more revenue.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200" dirty="0">
                <a:solidFill>
                  <a:srgbClr val="545454"/>
                </a:solidFill>
                <a:latin typeface="Roboto"/>
                <a:ea typeface="Roboto"/>
                <a:cs typeface="Roboto"/>
              </a:rPr>
              <a:t>We can look into promoting or taking away the Branded and package chocolate as a product offering. </a:t>
            </a: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endParaRPr lang="en-GB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indent="-342900" algn="just">
              <a:lnSpc>
                <a:spcPts val="341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54545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97837" y="-970418"/>
            <a:ext cx="12227835" cy="1222783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80390">
            <a:off x="-1917812" y="-1335299"/>
            <a:ext cx="5033991" cy="5052939"/>
          </a:xfrm>
          <a:custGeom>
            <a:avLst/>
            <a:gdLst/>
            <a:ahLst/>
            <a:cxnLst/>
            <a:rect l="l" t="t" r="r" b="b"/>
            <a:pathLst>
              <a:path w="5033991" h="5052939">
                <a:moveTo>
                  <a:pt x="0" y="0"/>
                </a:moveTo>
                <a:lnTo>
                  <a:pt x="5033991" y="0"/>
                </a:lnTo>
                <a:lnTo>
                  <a:pt x="5033991" y="5052940"/>
                </a:lnTo>
                <a:lnTo>
                  <a:pt x="0" y="505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 rot="3280390">
            <a:off x="13713579" y="5985841"/>
            <a:ext cx="5271575" cy="5291418"/>
          </a:xfrm>
          <a:custGeom>
            <a:avLst/>
            <a:gdLst/>
            <a:ahLst/>
            <a:cxnLst/>
            <a:rect l="l" t="t" r="r" b="b"/>
            <a:pathLst>
              <a:path w="5271575" h="5291418">
                <a:moveTo>
                  <a:pt x="0" y="0"/>
                </a:moveTo>
                <a:lnTo>
                  <a:pt x="5271575" y="0"/>
                </a:lnTo>
                <a:lnTo>
                  <a:pt x="5271575" y="5291417"/>
                </a:lnTo>
                <a:lnTo>
                  <a:pt x="0" y="5291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7" name="Group 7"/>
          <p:cNvGrpSpPr/>
          <p:nvPr/>
        </p:nvGrpSpPr>
        <p:grpSpPr>
          <a:xfrm>
            <a:off x="10496136" y="2483042"/>
            <a:ext cx="6232216" cy="6232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16925" b="-16407"/>
              </a:stretch>
            </a:blipFill>
            <a:ln w="57150" cap="sq">
              <a:solidFill>
                <a:srgbClr val="210B05"/>
              </a:soli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9" name="Freeform 9"/>
          <p:cNvSpPr/>
          <p:nvPr/>
        </p:nvSpPr>
        <p:spPr>
          <a:xfrm>
            <a:off x="14502549" y="470630"/>
            <a:ext cx="500514" cy="662652"/>
          </a:xfrm>
          <a:custGeom>
            <a:avLst/>
            <a:gdLst/>
            <a:ahLst/>
            <a:cxnLst/>
            <a:rect l="l" t="t" r="r" b="b"/>
            <a:pathLst>
              <a:path w="500514" h="662652">
                <a:moveTo>
                  <a:pt x="0" y="0"/>
                </a:moveTo>
                <a:lnTo>
                  <a:pt x="500514" y="0"/>
                </a:lnTo>
                <a:lnTo>
                  <a:pt x="500514" y="662652"/>
                </a:lnTo>
                <a:lnTo>
                  <a:pt x="0" y="66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TextBox 10"/>
          <p:cNvSpPr txBox="1"/>
          <p:nvPr/>
        </p:nvSpPr>
        <p:spPr>
          <a:xfrm>
            <a:off x="1028700" y="3389188"/>
            <a:ext cx="6979690" cy="1461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999" b="1" dirty="0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Q &amp; 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265738"/>
            <a:ext cx="6979690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Thank you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1278608" y="6966024"/>
            <a:ext cx="5524763" cy="552476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>
                <a:alpha val="61961"/>
              </a:srgbClr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8444992"/>
            <a:ext cx="591862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>
                <a:solidFill>
                  <a:srgbClr val="210B05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PRESENTED BY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809990"/>
            <a:ext cx="5918626" cy="42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Silondile Mkhize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03063" y="639445"/>
            <a:ext cx="2903937" cy="38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20"/>
              </a:lnSpc>
            </a:pPr>
            <a:r>
              <a:rPr lang="en-US" sz="2300" dirty="0">
                <a:solidFill>
                  <a:srgbClr val="210B05"/>
                </a:solidFill>
                <a:latin typeface="Roboto"/>
                <a:ea typeface="Roboto"/>
                <a:cs typeface="Roboto"/>
                <a:sym typeface="Roboto"/>
              </a:rPr>
              <a:t>SILO's Coffee Shop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006166" y="1191171"/>
            <a:ext cx="1430092" cy="143009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28442" y="8715257"/>
            <a:ext cx="1462360" cy="146236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2E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C1E0BE2-4934-E153-B930-E6D7ABFEE092}"/>
              </a:ext>
            </a:extLst>
          </p:cNvPr>
          <p:cNvSpPr txBox="1"/>
          <p:nvPr/>
        </p:nvSpPr>
        <p:spPr>
          <a:xfrm>
            <a:off x="11816168" y="9123272"/>
            <a:ext cx="1462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600" b="1" dirty="0">
                <a:solidFill>
                  <a:srgbClr val="210B05"/>
                </a:solidFill>
                <a:latin typeface="Montserrat Heavy"/>
              </a:rPr>
              <a:t>Pg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Custom</PresentationFormat>
  <Paragraphs>66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Montserrat Heavy</vt:lpstr>
      <vt:lpstr>Calibri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White Minimalist Marketing Innovation Presentation</dc:title>
  <cp:lastModifiedBy>Silondile Mkhize</cp:lastModifiedBy>
  <cp:revision>3</cp:revision>
  <dcterms:created xsi:type="dcterms:W3CDTF">2006-08-16T00:00:00Z</dcterms:created>
  <dcterms:modified xsi:type="dcterms:W3CDTF">2025-11-02T19:46:11Z</dcterms:modified>
  <dc:identifier>DAG3M4pApJc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eeb307-a188-4d40-bbdb-56f0cbca380c_Enabled">
    <vt:lpwstr>true</vt:lpwstr>
  </property>
  <property fmtid="{D5CDD505-2E9C-101B-9397-08002B2CF9AE}" pid="3" name="MSIP_Label_46eeb307-a188-4d40-bbdb-56f0cbca380c_SetDate">
    <vt:lpwstr>2025-10-29T21:16:20Z</vt:lpwstr>
  </property>
  <property fmtid="{D5CDD505-2E9C-101B-9397-08002B2CF9AE}" pid="4" name="MSIP_Label_46eeb307-a188-4d40-bbdb-56f0cbca380c_Method">
    <vt:lpwstr>Standard</vt:lpwstr>
  </property>
  <property fmtid="{D5CDD505-2E9C-101B-9397-08002B2CF9AE}" pid="5" name="MSIP_Label_46eeb307-a188-4d40-bbdb-56f0cbca380c_Name">
    <vt:lpwstr>Company Internal Use Only</vt:lpwstr>
  </property>
  <property fmtid="{D5CDD505-2E9C-101B-9397-08002B2CF9AE}" pid="6" name="MSIP_Label_46eeb307-a188-4d40-bbdb-56f0cbca380c_SiteId">
    <vt:lpwstr>a69fff39-07ec-41bb-952a-7c37dd42a482</vt:lpwstr>
  </property>
  <property fmtid="{D5CDD505-2E9C-101B-9397-08002B2CF9AE}" pid="7" name="MSIP_Label_46eeb307-a188-4d40-bbdb-56f0cbca380c_ActionId">
    <vt:lpwstr>e22c2d29-f784-4b5a-937a-b88afd80e1d9</vt:lpwstr>
  </property>
  <property fmtid="{D5CDD505-2E9C-101B-9397-08002B2CF9AE}" pid="8" name="MSIP_Label_46eeb307-a188-4d40-bbdb-56f0cbca380c_ContentBits">
    <vt:lpwstr>0</vt:lpwstr>
  </property>
  <property fmtid="{D5CDD505-2E9C-101B-9397-08002B2CF9AE}" pid="9" name="MSIP_Label_46eeb307-a188-4d40-bbdb-56f0cbca380c_Tag">
    <vt:lpwstr>10, 3, 0, 1</vt:lpwstr>
  </property>
</Properties>
</file>